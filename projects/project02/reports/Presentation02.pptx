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8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E98D-B3C9-965C-29C8-DE8B0DCBF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C9399-FF14-3C2A-21D6-A3B0E5CF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6BB46-F62A-F8A5-C193-94EEBF14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9C3A4-FD6F-6E79-EB1C-48A97267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10483-9D91-FCDE-C4EB-A9941623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6823-F10F-BC4F-697C-8881FC1D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DA1C0-C19E-47DF-6DEE-80810B6B6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2FDFA-B1CE-AF15-2A79-B92CB548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4E018-9DE4-A7FB-2287-6D21AE874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D573E-858C-F8B7-DDA2-265C38D6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329E-85FC-8B2C-72CB-2DABECB0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36477-A8EA-B095-0511-41F2ED05B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D2A0D-5E01-4708-7904-91C38D02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7FE5B-7BCA-E10C-7C99-4A6B2301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CF5BC-02E5-7128-DA6C-C7C99AF8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9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B64B-88E4-E04F-9C61-77E523FA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C2F6D-2F1C-3755-B418-EFC4B97C6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A7BAD-FA2A-AEF8-E848-F0FCDCE5D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DE947-BE33-863D-B47F-87BDA999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4D42B-0D4F-00DB-4F9E-7DBE3D96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71407-CF16-3219-663C-ADCB192A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0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FC1D7-2A2A-5D9A-707E-3F9A6AE5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E87CD-1840-FAE1-0D2B-160F76BA5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DF1C5-0064-3341-CCEC-AA76191B0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7D4D1-5135-E9FD-2309-E06BE6A3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271B2-AEF7-FB71-3372-B985A7286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69F24-1BB8-3063-5F01-D2EA951A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7D8A3-6D18-3DB2-B036-B05E7380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924C4-2E47-B458-DBAF-5740721B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9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7B03-9FC9-EF93-F7E2-1928B2AD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B1E66-30CE-914D-3FFE-782DFCFF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B5723-7E0C-A5CE-21A1-3DD51A526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29325-E2F7-5878-78C5-BF486350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2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7FF69-3804-A49A-D7DB-644A8E7C3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77102-8A85-B871-2E0F-5DA52C11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B948C-8617-14D1-45F0-B34B1387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0AF4-448A-40E6-C83B-08AC86B1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9D535-2EFA-E571-F1EE-0390DADE8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D54AC-4670-D69E-DA32-6B37F3AA2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8B76C-F974-12B1-C1C3-CB54D968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4ABC5-4625-2ECD-ADF6-A62728D4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CE565-084A-F64E-7D32-507E75EA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2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67E9-6ED6-1A51-0274-C11155BC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C861A-AA18-97DC-1B78-E633DA824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FD9C8-C44A-B7B6-27D2-146ACF188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C70B3-773E-00AF-EDFE-073B7D53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EFC57-5A0F-BAC0-84F5-1249A01E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6A9B4-A213-221B-AD91-775C816E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05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6987-C615-8C8F-5F6B-91AF54F2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AA37F-96A0-7A70-17B9-0430AA0DA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13E7-0040-B163-7C54-C5C686B6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B724E-A619-EF00-973C-4A25C243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A07FC-BBE0-5DF7-2D79-094C05BB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7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A5CC2-16A9-F669-BAE5-9202A288A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C62B5-9D26-D91D-4658-F85B8524F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30100-0F71-F447-DED0-3DF3A33D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B8A8-9EF0-9152-CCE1-3C310AEF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DB4C-5A27-8775-E40A-53B3CC2D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9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2A127-7583-526E-8AAB-BEFA79DE6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4BA5A-4B30-57FA-3322-FBF52FFAF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B006A-AA1D-8053-13F4-39BACD81B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7F46A-143F-774B-AFEC-D7AA4CA695A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3A88C-A2E7-003B-015F-252FE187E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08B18-6BE5-9264-1A59-6F93ABDCF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834A0-C05E-784F-822C-83AEA98F4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4DC2-36C6-EF8D-85F1-BBF57CFF6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697" y="479812"/>
            <a:ext cx="1960605" cy="879432"/>
          </a:xfrm>
        </p:spPr>
        <p:txBody>
          <a:bodyPr>
            <a:normAutofit fontScale="90000"/>
          </a:bodyPr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06E3B7-C98F-9430-B08C-9D1471721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919541"/>
              </p:ext>
            </p:extLst>
          </p:nvPr>
        </p:nvGraphicFramePr>
        <p:xfrm>
          <a:off x="822282" y="1359244"/>
          <a:ext cx="10547436" cy="5176748"/>
        </p:xfrm>
        <a:graphic>
          <a:graphicData uri="http://schemas.openxmlformats.org/drawingml/2006/table">
            <a:tbl>
              <a:tblPr/>
              <a:tblGrid>
                <a:gridCol w="2636859">
                  <a:extLst>
                    <a:ext uri="{9D8B030D-6E8A-4147-A177-3AD203B41FA5}">
                      <a16:colId xmlns:a16="http://schemas.microsoft.com/office/drawing/2014/main" val="3559855341"/>
                    </a:ext>
                  </a:extLst>
                </a:gridCol>
                <a:gridCol w="2636859">
                  <a:extLst>
                    <a:ext uri="{9D8B030D-6E8A-4147-A177-3AD203B41FA5}">
                      <a16:colId xmlns:a16="http://schemas.microsoft.com/office/drawing/2014/main" val="3160341134"/>
                    </a:ext>
                  </a:extLst>
                </a:gridCol>
                <a:gridCol w="2636859">
                  <a:extLst>
                    <a:ext uri="{9D8B030D-6E8A-4147-A177-3AD203B41FA5}">
                      <a16:colId xmlns:a16="http://schemas.microsoft.com/office/drawing/2014/main" val="2780746625"/>
                    </a:ext>
                  </a:extLst>
                </a:gridCol>
                <a:gridCol w="2636859">
                  <a:extLst>
                    <a:ext uri="{9D8B030D-6E8A-4147-A177-3AD203B41FA5}">
                      <a16:colId xmlns:a16="http://schemas.microsoft.com/office/drawing/2014/main" val="4091028157"/>
                    </a:ext>
                  </a:extLst>
                </a:gridCol>
              </a:tblGrid>
              <a:tr h="29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Category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Element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17004"/>
                  </a:ext>
                </a:extLst>
              </a:tr>
              <a:tr h="958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🔹 </a:t>
                      </a:r>
                      <a:r>
                        <a:rPr lang="en-US" b="1"/>
                        <a:t>Temporal structure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n_steps_input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of the sequence used as input (temporal history).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81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33334"/>
                  </a:ext>
                </a:extLst>
              </a:tr>
              <a:tr h="7374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n_steps_output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Subsequent steps used as output (future prediction).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98785"/>
                  </a:ext>
                </a:extLst>
              </a:tr>
              <a:tr h="9586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Sliding 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 are generated by sliding through the temporal sequence with a 1-frame step.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If </a:t>
                      </a:r>
                      <a:r>
                        <a:rPr lang="en-US" dirty="0" err="1"/>
                        <a:t>N_t</a:t>
                      </a:r>
                      <a:r>
                        <a:rPr lang="en-US" dirty="0"/>
                        <a:t>=10, we obtain 81-10+1 = 72 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660821"/>
                  </a:ext>
                </a:extLst>
              </a:tr>
              <a:tr h="7374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Sample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Block (n_{input}, H, W, C).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81, 256, 256, 11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572712"/>
                  </a:ext>
                </a:extLst>
              </a:tr>
              <a:tr h="7374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48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844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B8B1DF-0BD1-6052-9D84-EC6825FE8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409232"/>
              </p:ext>
            </p:extLst>
          </p:nvPr>
        </p:nvGraphicFramePr>
        <p:xfrm>
          <a:off x="660917" y="800825"/>
          <a:ext cx="10547436" cy="4111900"/>
        </p:xfrm>
        <a:graphic>
          <a:graphicData uri="http://schemas.openxmlformats.org/drawingml/2006/table">
            <a:tbl>
              <a:tblPr/>
              <a:tblGrid>
                <a:gridCol w="2636859">
                  <a:extLst>
                    <a:ext uri="{9D8B030D-6E8A-4147-A177-3AD203B41FA5}">
                      <a16:colId xmlns:a16="http://schemas.microsoft.com/office/drawing/2014/main" val="3559855341"/>
                    </a:ext>
                  </a:extLst>
                </a:gridCol>
                <a:gridCol w="2636859">
                  <a:extLst>
                    <a:ext uri="{9D8B030D-6E8A-4147-A177-3AD203B41FA5}">
                      <a16:colId xmlns:a16="http://schemas.microsoft.com/office/drawing/2014/main" val="3160341134"/>
                    </a:ext>
                  </a:extLst>
                </a:gridCol>
                <a:gridCol w="2636859">
                  <a:extLst>
                    <a:ext uri="{9D8B030D-6E8A-4147-A177-3AD203B41FA5}">
                      <a16:colId xmlns:a16="http://schemas.microsoft.com/office/drawing/2014/main" val="2780746625"/>
                    </a:ext>
                  </a:extLst>
                </a:gridCol>
                <a:gridCol w="2636859">
                  <a:extLst>
                    <a:ext uri="{9D8B030D-6E8A-4147-A177-3AD203B41FA5}">
                      <a16:colId xmlns:a16="http://schemas.microsoft.com/office/drawing/2014/main" val="4091028157"/>
                    </a:ext>
                  </a:extLst>
                </a:gridCol>
              </a:tblGrid>
              <a:tr h="294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Category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Element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17004"/>
                  </a:ext>
                </a:extLst>
              </a:tr>
              <a:tr h="958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🔹 P</a:t>
                      </a:r>
                      <a:r>
                        <a:rPr lang="en-US" b="1" dirty="0"/>
                        <a:t>hysical parameters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α (</a:t>
                      </a:r>
                      <a:r>
                        <a:rPr lang="en-US" dirty="0"/>
                        <a:t>activity)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Intensidad de las fuerzas activas del sistema.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Negativo</a:t>
                      </a:r>
                      <a:r>
                        <a:rPr lang="en-US" dirty="0"/>
                        <a:t>: pushers  </a:t>
                      </a:r>
                      <a:r>
                        <a:rPr lang="en-US" dirty="0" err="1"/>
                        <a:t>Positivo</a:t>
                      </a:r>
                      <a:r>
                        <a:rPr lang="en-US" dirty="0"/>
                        <a:t>: pullers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33334"/>
                  </a:ext>
                </a:extLst>
              </a:tr>
              <a:tr h="7374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β (</a:t>
                      </a:r>
                      <a:r>
                        <a:rPr lang="en-US"/>
                        <a:t>alineamiento)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Tendencia de las partículas a alinearse con su entorno.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98785"/>
                  </a:ext>
                </a:extLst>
              </a:tr>
              <a:tr h="9586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ζ (</a:t>
                      </a:r>
                      <a:r>
                        <a:rPr lang="en-US"/>
                        <a:t>acoplamiento flujo–orientación)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Interacción entre el flujo y la orientación de las partículas.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ζ </a:t>
                      </a:r>
                      <a:r>
                        <a:rPr lang="en-US" dirty="0"/>
                        <a:t>alto → </a:t>
                      </a:r>
                      <a:r>
                        <a:rPr lang="en-US" dirty="0" err="1"/>
                        <a:t>vórtices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grandes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660821"/>
                  </a:ext>
                </a:extLst>
              </a:tr>
              <a:tr h="737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🔹 S</a:t>
                      </a:r>
                      <a:r>
                        <a:rPr lang="en-US" b="1" dirty="0"/>
                        <a:t>imulated Data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Chanels (11)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Magnitudes </a:t>
                      </a:r>
                      <a:r>
                        <a:rPr lang="en-US" dirty="0" err="1"/>
                        <a:t>físicas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calculadas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cada</a:t>
                      </a:r>
                      <a:r>
                        <a:rPr lang="en-US" dirty="0"/>
                        <a:t> punto del campo.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572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019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18F089-18A3-00ED-44BB-9A8321AEB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769904"/>
              </p:ext>
            </p:extLst>
          </p:nvPr>
        </p:nvGraphicFramePr>
        <p:xfrm>
          <a:off x="974124" y="910869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705285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29856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Chanel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Physical meaning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143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Density or local concentration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19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u_x, u_y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Velocity field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822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D_xx, D_xy, D_yy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Deformation tensor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083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S_xxxx, S_xxxy, S_xxyy, S_xyyy, S_yyyy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Fourth-order moments (anisotropy and spatial correlations)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8955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3D1DEE-D97E-9216-F28F-A4175B136E01}"/>
              </a:ext>
            </a:extLst>
          </p:cNvPr>
          <p:cNvSpPr txBox="1"/>
          <p:nvPr/>
        </p:nvSpPr>
        <p:spPr>
          <a:xfrm>
            <a:off x="1282013" y="3844012"/>
            <a:ext cx="94065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Project: Use autoencoders and variational autoencoders to learn low-dimensional latent representations that capture key features and phase transitions in active matter systems.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By analyzing the latent space with PCA and t-SNE, reveals transitions between dynamic regimes, meaningful clustering of physical phases, and interpretable organization related to the system’s underlying parameters.</a:t>
            </a:r>
          </a:p>
        </p:txBody>
      </p:sp>
    </p:spTree>
    <p:extLst>
      <p:ext uri="{BB962C8B-B14F-4D97-AF65-F5344CB8AC3E}">
        <p14:creationId xmlns:p14="http://schemas.microsoft.com/office/powerpoint/2010/main" val="178831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data flow&#10;&#10;AI-generated content may be incorrect.">
            <a:extLst>
              <a:ext uri="{FF2B5EF4-FFF2-40B4-BE49-F238E27FC236}">
                <a16:creationId xmlns:a16="http://schemas.microsoft.com/office/drawing/2014/main" id="{E4F4633A-C6D6-CAD1-AC90-D21D849F2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495" y="1545965"/>
            <a:ext cx="6178376" cy="454766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EC6D57-F1E4-485E-7E5D-B00B30D3C22C}"/>
              </a:ext>
            </a:extLst>
          </p:cNvPr>
          <p:cNvSpPr txBox="1"/>
          <p:nvPr/>
        </p:nvSpPr>
        <p:spPr>
          <a:xfrm>
            <a:off x="2025555" y="395041"/>
            <a:ext cx="8378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Identify low-dimensional latent structures revealing active-matter dynamic phases.</a:t>
            </a:r>
          </a:p>
        </p:txBody>
      </p:sp>
      <p:pic>
        <p:nvPicPr>
          <p:cNvPr id="13" name="Picture 12" descr="A paper with text and images&#10;&#10;AI-generated content may be incorrect.">
            <a:extLst>
              <a:ext uri="{FF2B5EF4-FFF2-40B4-BE49-F238E27FC236}">
                <a16:creationId xmlns:a16="http://schemas.microsoft.com/office/drawing/2014/main" id="{1C0B2C6F-FB3E-37C1-B056-840F77E08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052" y="963827"/>
            <a:ext cx="5350453" cy="574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6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DEAD-01AC-9612-585F-CE1010EB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DEE47A3-EA12-4F1C-9EC0-D41682368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590487"/>
              </p:ext>
            </p:extLst>
          </p:nvPr>
        </p:nvGraphicFramePr>
        <p:xfrm>
          <a:off x="573338" y="1690688"/>
          <a:ext cx="11252079" cy="4361166"/>
        </p:xfrm>
        <a:graphic>
          <a:graphicData uri="http://schemas.openxmlformats.org/drawingml/2006/table">
            <a:tbl>
              <a:tblPr/>
              <a:tblGrid>
                <a:gridCol w="3042935">
                  <a:extLst>
                    <a:ext uri="{9D8B030D-6E8A-4147-A177-3AD203B41FA5}">
                      <a16:colId xmlns:a16="http://schemas.microsoft.com/office/drawing/2014/main" val="3250665475"/>
                    </a:ext>
                  </a:extLst>
                </a:gridCol>
                <a:gridCol w="5166209">
                  <a:extLst>
                    <a:ext uri="{9D8B030D-6E8A-4147-A177-3AD203B41FA5}">
                      <a16:colId xmlns:a16="http://schemas.microsoft.com/office/drawing/2014/main" val="4074789623"/>
                    </a:ext>
                  </a:extLst>
                </a:gridCol>
                <a:gridCol w="3042935">
                  <a:extLst>
                    <a:ext uri="{9D8B030D-6E8A-4147-A177-3AD203B41FA5}">
                      <a16:colId xmlns:a16="http://schemas.microsoft.com/office/drawing/2014/main" val="213671344"/>
                    </a:ext>
                  </a:extLst>
                </a:gridCol>
              </a:tblGrid>
              <a:tr h="443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What it does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Shape / Size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199702"/>
                  </a:ext>
                </a:extLst>
              </a:tr>
              <a:tr h="77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short movie (sequence) of physical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(11 variables, 9 time steps, 256×256 pixels)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70867"/>
                  </a:ext>
                </a:extLst>
              </a:tr>
              <a:tr h="77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Encoder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Compresses the movie into a small numeric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Becomes a 256-number feature 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871394"/>
                  </a:ext>
                </a:extLst>
              </a:tr>
              <a:tr h="443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Condition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Adds the physical parameters (</a:t>
                      </a:r>
                      <a:r>
                        <a:rPr lang="el-GR" dirty="0"/>
                        <a:t>α, ζ)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413558"/>
                  </a:ext>
                </a:extLst>
              </a:tr>
              <a:tr h="443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Latent space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Final compact representation that summarizes the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32 numbers (latent size = 32)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313457"/>
                  </a:ext>
                </a:extLst>
              </a:tr>
              <a:tr h="443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Decoder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the 32 numbers and (</a:t>
                      </a:r>
                      <a:r>
                        <a:rPr lang="el-GR"/>
                        <a:t>α, ζ) </a:t>
                      </a:r>
                      <a:r>
                        <a:rPr lang="en-US"/>
                        <a:t>to rebuild the movie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same size as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52337"/>
                  </a:ext>
                </a:extLst>
              </a:tr>
              <a:tr h="443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Loss function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Compares input and output to learn good reconstructions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error + regularization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86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0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399</Words>
  <Application>Microsoft Macintosh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Data</vt:lpstr>
      <vt:lpstr>PowerPoint Presentation</vt:lpstr>
      <vt:lpstr>PowerPoint Presentation</vt:lpstr>
      <vt:lpstr>PowerPoint Presentation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GARY LEONEL GUAMAN TOASA</dc:creator>
  <cp:lastModifiedBy>GARY LEONEL GUAMAN TOASA</cp:lastModifiedBy>
  <cp:revision>4</cp:revision>
  <dcterms:created xsi:type="dcterms:W3CDTF">2025-11-06T00:15:11Z</dcterms:created>
  <dcterms:modified xsi:type="dcterms:W3CDTF">2025-11-06T02:25:01Z</dcterms:modified>
</cp:coreProperties>
</file>